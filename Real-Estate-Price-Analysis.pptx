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7374172-7204-31A2-BD60-530E5E150292}">
          <p14:sldIdLst>
            <p14:sldId id="256"/>
            <p14:sldId id="257"/>
            <p14:sldId id="258"/>
          </p14:sldIdLst>
        </p14:section>
        <p14:section name="Analysis" id="{4D649322-A4F2-C4B9-6204-EFE895C1DB6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Wrap-up" id="{02CA1315-EF56-8A73-987A-87DBF4E4211E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3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7797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bg1"/>
                </a:solidFill>
              </a:rPr>
              <a:t>Real Estate Price Analysis</a:t>
            </a:r>
            <a:endParaRPr lang="en-US" sz="4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Python data analysis with pandas, matplotlib and seaborn</a:t>
            </a:r>
            <a:endParaRPr lang="en-US" sz="1800" dirty="0"/>
          </a:p>
          <a:p>
            <a:pPr marL="0" indent="0" algn="l">
              <a:buNone/>
            </a:pPr>
            <a:r>
              <a:rPr lang="en-US" dirty="0"/>
              <a:t>Shivam</a:t>
            </a:r>
            <a:r>
              <a:rPr lang="en-US" sz="1800" dirty="0">
                <a:solidFill>
                  <a:schemeClr val="bg2"/>
                </a:solidFill>
              </a:rPr>
              <a:t>  ·  </a:t>
            </a:r>
            <a:r>
              <a:rPr lang="en-US" dirty="0"/>
              <a:t>Delhi Technological University</a:t>
            </a:r>
            <a:endParaRPr lang="en-US" sz="1800" dirty="0"/>
          </a:p>
        </p:txBody>
      </p:sp>
      <p:sp>
        <p:nvSpPr>
          <p:cNvPr id="4" name="Hero stat"/>
          <p:cNvSpPr txBox="1"/>
          <p:nvPr/>
        </p:nvSpPr>
        <p:spPr>
          <a:xfrm>
            <a:off x="8138160" y="21945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chemeClr val="accent2"/>
                </a:solidFill>
              </a:rPr>
              <a:t>14,223</a:t>
            </a:r>
            <a:endParaRPr lang="en-US" sz="6600" dirty="0"/>
          </a:p>
          <a:p>
            <a:pPr marL="0" indent="0" algn="ctr">
              <a:buNone/>
            </a:pPr>
            <a:r>
              <a:rPr lang="en-US" sz="1800" dirty="0">
                <a:solidFill>
                  <a:schemeClr val="bg1"/>
                </a:solidFill>
              </a:rPr>
              <a:t>property listings analysed</a:t>
            </a:r>
            <a:endParaRPr lang="en-US" sz="6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3" name="Card Objective"/>
          <p:cNvSpPr/>
          <p:nvPr/>
        </p:nvSpPr>
        <p:spPr>
          <a:xfrm>
            <a:off x="548640" y="1737360"/>
            <a:ext cx="3566160" cy="4023360"/>
          </a:xfrm>
          <a:prstGeom prst="rect">
            <a:avLst/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Chip 1"/>
          <p:cNvSpPr txBox="1"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Objective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Understand what drives property prices in Gurugram: which localities, property types and builders are costliest, and whether RERA, status or size add a premium.</a:t>
            </a:r>
            <a:endParaRPr lang="en-US" sz="1500" dirty="0"/>
          </a:p>
        </p:txBody>
      </p:sp>
      <p:sp>
        <p:nvSpPr>
          <p:cNvPr id="7" name="Card Data"/>
          <p:cNvSpPr/>
          <p:nvPr/>
        </p:nvSpPr>
        <p:spPr>
          <a:xfrm>
            <a:off x="4297680" y="1737360"/>
            <a:ext cx="3566160" cy="4023360"/>
          </a:xfrm>
          <a:prstGeom prst="rect">
            <a:avLst/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Chip 2"/>
          <p:cNvSpPr txBox="1"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2918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14,223 listings × 12 columns (price, area, locality, BHK, RERA, builder and more) from clean_data.xlsx, with no missing values after cleaning.</a:t>
            </a:r>
            <a:endParaRPr lang="en-US" sz="1500" dirty="0"/>
          </a:p>
        </p:txBody>
      </p:sp>
      <p:sp>
        <p:nvSpPr>
          <p:cNvPr id="11" name="Card Tools"/>
          <p:cNvSpPr/>
          <p:nvPr/>
        </p:nvSpPr>
        <p:spPr>
          <a:xfrm>
            <a:off x="8046720" y="1737360"/>
            <a:ext cx="3566160" cy="4023360"/>
          </a:xfrm>
          <a:prstGeom prst="rect">
            <a:avLst/>
          </a:prstGeom>
          <a:solidFill>
            <a:schemeClr val="bg2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Chip 3"/>
          <p:cNvSpPr txBox="1"/>
          <p:nvPr/>
        </p:nvSpPr>
        <p:spPr>
          <a:xfrm>
            <a:off x="8321040" y="2011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Tools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9184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Python with pandas and numpy for analysis; matplotlib and seaborn for charts; Excel for the cleaned dataset.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About the dataset: 12 columns</a:t>
            </a:r>
            <a:endParaRPr lang="en-US" sz="3000" dirty="0"/>
          </a:p>
        </p:txBody>
      </p:sp>
      <p:graphicFrame>
        <p:nvGraphicFramePr>
          <p:cNvPr id="4" name="Columns 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440680" cy="396849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price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Property price (₹)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Ready to move / under construction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Size in sqft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rate_per_sqft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Price per sqft (₹)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property_type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Type of property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locality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Neighbourhood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Columns 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209998"/>
              </p:ext>
            </p:extLst>
          </p:nvPr>
        </p:nvGraphicFramePr>
        <p:xfrm>
          <a:off x="6172200" y="1645920"/>
          <a:ext cx="5440680" cy="3968496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builder_name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Builder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rera_approval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bool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RERA approved or not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bhk_count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Number of BHK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society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Society / project name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company_name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Company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flat_type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Apartment / Floor / Plot/Villa/Penthouse/Houses</a:t>
                      </a:r>
                      <a:endParaRPr lang="en-US" sz="1400" dirty="0"/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14,223 rows · no missing values · 1 bool, 4 int, 7 text columns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10 questions we answer</a:t>
            </a:r>
            <a:endParaRPr lang="en-US" sz="3000" dirty="0"/>
          </a:p>
        </p:txBody>
      </p:sp>
      <p:sp>
        <p:nvSpPr>
          <p:cNvPr id="3" name="Row 1"/>
          <p:cNvSpPr/>
          <p:nvPr/>
        </p:nvSpPr>
        <p:spPr>
          <a:xfrm>
            <a:off x="548640" y="1645920"/>
            <a:ext cx="544068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Chip 1"/>
          <p:cNvSpPr txBox="1"/>
          <p:nvPr/>
        </p:nvSpPr>
        <p:spPr>
          <a:xfrm>
            <a:off x="685800" y="1764792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Costliest flat</a:t>
            </a:r>
            <a:endParaRPr lang="en-US" sz="1800" dirty="0"/>
          </a:p>
        </p:txBody>
      </p:sp>
      <p:sp>
        <p:nvSpPr>
          <p:cNvPr id="6" name="Row 2"/>
          <p:cNvSpPr/>
          <p:nvPr/>
        </p:nvSpPr>
        <p:spPr>
          <a:xfrm>
            <a:off x="548640" y="2542032"/>
            <a:ext cx="544068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Chip 2"/>
          <p:cNvSpPr txBox="1"/>
          <p:nvPr/>
        </p:nvSpPr>
        <p:spPr>
          <a:xfrm>
            <a:off x="685800" y="2660904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4203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Highest avg price by locality </a:t>
            </a:r>
            <a:endParaRPr lang="en-US" sz="1800" dirty="0"/>
          </a:p>
        </p:txBody>
      </p:sp>
      <p:sp>
        <p:nvSpPr>
          <p:cNvPr id="9" name="Row 3"/>
          <p:cNvSpPr/>
          <p:nvPr/>
        </p:nvSpPr>
        <p:spPr>
          <a:xfrm>
            <a:off x="548640" y="3438144"/>
            <a:ext cx="544068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Chip 3"/>
          <p:cNvSpPr txBox="1"/>
          <p:nvPr/>
        </p:nvSpPr>
        <p:spPr>
          <a:xfrm>
            <a:off x="685800" y="3557016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43814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H</a:t>
            </a:r>
            <a:r>
              <a:rPr lang="en-US" sz="1800" b="1" dirty="0">
                <a:solidFill>
                  <a:schemeClr val="tx2"/>
                </a:solidFill>
              </a:rPr>
              <a:t>ighest rate per sq feet by locality</a:t>
            </a:r>
            <a:endParaRPr lang="en-US" sz="1800" dirty="0"/>
          </a:p>
        </p:txBody>
      </p:sp>
      <p:sp>
        <p:nvSpPr>
          <p:cNvPr id="12" name="Row 4"/>
          <p:cNvSpPr/>
          <p:nvPr/>
        </p:nvSpPr>
        <p:spPr>
          <a:xfrm>
            <a:off x="548640" y="4334256"/>
            <a:ext cx="544068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hip 4"/>
          <p:cNvSpPr txBox="1"/>
          <p:nvPr/>
        </p:nvSpPr>
        <p:spPr>
          <a:xfrm>
            <a:off x="685800" y="4453128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33425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 ready</a:t>
            </a:r>
            <a:r>
              <a:rPr lang="en-US" b="1" dirty="0">
                <a:solidFill>
                  <a:schemeClr val="tx2"/>
                </a:solidFill>
              </a:rPr>
              <a:t>-to-move property more costlier than under-construction property</a:t>
            </a:r>
            <a:endParaRPr lang="en-US" sz="1800" dirty="0"/>
          </a:p>
        </p:txBody>
      </p:sp>
      <p:sp>
        <p:nvSpPr>
          <p:cNvPr id="15" name="Row 5"/>
          <p:cNvSpPr/>
          <p:nvPr/>
        </p:nvSpPr>
        <p:spPr>
          <a:xfrm>
            <a:off x="548640" y="5230368"/>
            <a:ext cx="544068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hip 5"/>
          <p:cNvSpPr txBox="1"/>
          <p:nvPr/>
        </p:nvSpPr>
        <p:spPr>
          <a:xfrm>
            <a:off x="685800" y="534924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5230368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RERA premium</a:t>
            </a:r>
            <a:endParaRPr lang="en-US" sz="1800" dirty="0"/>
          </a:p>
        </p:txBody>
      </p:sp>
      <p:sp>
        <p:nvSpPr>
          <p:cNvPr id="18" name="Row 6"/>
          <p:cNvSpPr/>
          <p:nvPr/>
        </p:nvSpPr>
        <p:spPr>
          <a:xfrm>
            <a:off x="6172200" y="1645920"/>
            <a:ext cx="544068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hip 6"/>
          <p:cNvSpPr txBox="1"/>
          <p:nvPr/>
        </p:nvSpPr>
        <p:spPr>
          <a:xfrm>
            <a:off x="6309360" y="1764792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64592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Area vs price</a:t>
            </a:r>
            <a:endParaRPr lang="en-US" sz="1800" dirty="0"/>
          </a:p>
        </p:txBody>
      </p:sp>
      <p:sp>
        <p:nvSpPr>
          <p:cNvPr id="21" name="Row 7"/>
          <p:cNvSpPr/>
          <p:nvPr/>
        </p:nvSpPr>
        <p:spPr>
          <a:xfrm>
            <a:off x="6172200" y="2542032"/>
            <a:ext cx="544068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Chip 7"/>
          <p:cNvSpPr txBox="1"/>
          <p:nvPr/>
        </p:nvSpPr>
        <p:spPr>
          <a:xfrm>
            <a:off x="6309360" y="2660904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7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54203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BHK vs rate</a:t>
            </a:r>
            <a:endParaRPr lang="en-US" sz="1800" dirty="0"/>
          </a:p>
        </p:txBody>
      </p:sp>
      <p:sp>
        <p:nvSpPr>
          <p:cNvPr id="24" name="Row 8"/>
          <p:cNvSpPr/>
          <p:nvPr/>
        </p:nvSpPr>
        <p:spPr>
          <a:xfrm>
            <a:off x="6172200" y="3438144"/>
            <a:ext cx="544068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Chip 8"/>
          <p:cNvSpPr txBox="1"/>
          <p:nvPr/>
        </p:nvSpPr>
        <p:spPr>
          <a:xfrm>
            <a:off x="6309360" y="3557016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8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343814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Costliest Property type</a:t>
            </a:r>
            <a:endParaRPr lang="en-US" sz="1800" dirty="0"/>
          </a:p>
        </p:txBody>
      </p:sp>
      <p:sp>
        <p:nvSpPr>
          <p:cNvPr id="27" name="Row 9"/>
          <p:cNvSpPr/>
          <p:nvPr/>
        </p:nvSpPr>
        <p:spPr>
          <a:xfrm>
            <a:off x="6172200" y="4334256"/>
            <a:ext cx="544068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8" name="Chip 9"/>
          <p:cNvSpPr txBox="1"/>
          <p:nvPr/>
        </p:nvSpPr>
        <p:spPr>
          <a:xfrm>
            <a:off x="6309360" y="4453128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9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433425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Higher prices of Builders / companies</a:t>
            </a:r>
            <a:endParaRPr lang="en-US" sz="1800" dirty="0"/>
          </a:p>
        </p:txBody>
      </p:sp>
      <p:sp>
        <p:nvSpPr>
          <p:cNvPr id="30" name="Row 10"/>
          <p:cNvSpPr/>
          <p:nvPr/>
        </p:nvSpPr>
        <p:spPr>
          <a:xfrm>
            <a:off x="6172200" y="5230368"/>
            <a:ext cx="5440680" cy="7498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Chip 10"/>
          <p:cNvSpPr txBox="1"/>
          <p:nvPr/>
        </p:nvSpPr>
        <p:spPr>
          <a:xfrm>
            <a:off x="6309360" y="534924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10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5230368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Area vs rate</a:t>
            </a:r>
            <a:endParaRPr lang="en-US" sz="18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Q1.  Which is the costliest flat in the dataset?</a:t>
            </a:r>
            <a:endParaRPr lang="en-US" sz="3000" dirty="0"/>
          </a:p>
        </p:txBody>
      </p:sp>
      <p:sp>
        <p:nvSpPr>
          <p:cNvPr id="3" name="Code card"/>
          <p:cNvSpPr/>
          <p:nvPr/>
        </p:nvSpPr>
        <p:spPr>
          <a:xfrm>
            <a:off x="548640" y="1554480"/>
            <a:ext cx="51206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PYTHON CODE</a:t>
            </a:r>
            <a:endParaRPr lang="en-US" sz="1200" dirty="0"/>
          </a:p>
        </p:txBody>
      </p:sp>
      <p:sp>
        <p:nvSpPr>
          <p:cNvPr id="6" name="Output placeholder"/>
          <p:cNvSpPr/>
          <p:nvPr/>
        </p:nvSpPr>
        <p:spPr>
          <a:xfrm>
            <a:off x="5943600" y="1554480"/>
            <a:ext cx="5669280" cy="3383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OUTPUT / CHART</a:t>
            </a:r>
            <a:endParaRPr lang="en-US" sz="1200" dirty="0"/>
          </a:p>
        </p:txBody>
      </p:sp>
      <p:sp>
        <p:nvSpPr>
          <p:cNvPr id="8" name="Costliest flat details"/>
          <p:cNvSpPr txBox="1"/>
          <p:nvPr/>
        </p:nvSpPr>
        <p:spPr>
          <a:xfrm>
            <a:off x="6172200" y="214884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600" dirty="0"/>
          </a:p>
        </p:txBody>
      </p:sp>
      <p:sp>
        <p:nvSpPr>
          <p:cNvPr id="9" name="Answer band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ANSWER</a:t>
            </a:r>
            <a:endParaRPr lang="en-US" sz="1400" dirty="0"/>
          </a:p>
        </p:txBody>
      </p:sp>
      <p:sp>
        <p:nvSpPr>
          <p:cNvPr id="11" name="Answer text"/>
          <p:cNvSpPr txBox="1"/>
          <p:nvPr/>
        </p:nvSpPr>
        <p:spPr>
          <a:xfrm>
            <a:off x="2103120" y="52120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The costliest flat is a 6 BHK and type is 6 BHK apartment in DLF camellias located in sector 42, built by provident capital. It is priced at 122.63 Crores and has an area of 16500 </a:t>
            </a:r>
            <a:r>
              <a:rPr lang="en-GB" sz="1600" dirty="0" err="1">
                <a:solidFill>
                  <a:schemeClr val="bg1"/>
                </a:solidFill>
              </a:rPr>
              <a:t>sq</a:t>
            </a:r>
            <a:r>
              <a:rPr lang="en-GB" sz="1600" dirty="0">
                <a:solidFill>
                  <a:schemeClr val="bg1"/>
                </a:solidFill>
              </a:rPr>
              <a:t>-feet with a rate of 74323 per </a:t>
            </a:r>
            <a:r>
              <a:rPr lang="en-GB" sz="1600" dirty="0" err="1">
                <a:solidFill>
                  <a:schemeClr val="bg1"/>
                </a:solidFill>
              </a:rPr>
              <a:t>sq</a:t>
            </a:r>
            <a:r>
              <a:rPr lang="en-GB" sz="1600" dirty="0">
                <a:solidFill>
                  <a:schemeClr val="bg1"/>
                </a:solidFill>
              </a:rPr>
              <a:t>-feet. The flat is currently ready to move.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E4C3CE-6CCC-BA1C-A3D6-1E6413BDC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2269960"/>
            <a:ext cx="5120639" cy="26678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AF8DE9-CD64-48B7-1FC6-078F26166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944" y="2119125"/>
            <a:ext cx="4196389" cy="27111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Q2.  Which locality has the highest average price?</a:t>
            </a:r>
            <a:endParaRPr lang="en-US" sz="3000" dirty="0"/>
          </a:p>
        </p:txBody>
      </p:sp>
      <p:sp>
        <p:nvSpPr>
          <p:cNvPr id="3" name="Code card"/>
          <p:cNvSpPr/>
          <p:nvPr/>
        </p:nvSpPr>
        <p:spPr>
          <a:xfrm>
            <a:off x="548640" y="1554480"/>
            <a:ext cx="51206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PYTHON CODE</a:t>
            </a:r>
            <a:endParaRPr lang="en-US" sz="1200" dirty="0"/>
          </a:p>
        </p:txBody>
      </p:sp>
      <p:sp>
        <p:nvSpPr>
          <p:cNvPr id="6" name="Output placeholder"/>
          <p:cNvSpPr/>
          <p:nvPr/>
        </p:nvSpPr>
        <p:spPr>
          <a:xfrm>
            <a:off x="5943600" y="1554480"/>
            <a:ext cx="5669280" cy="3383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OUTPUT / CHART</a:t>
            </a:r>
            <a:endParaRPr lang="en-US" sz="1200" dirty="0"/>
          </a:p>
        </p:txBody>
      </p:sp>
      <p:sp>
        <p:nvSpPr>
          <p:cNvPr id="9" name="Answer band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ANSWER</a:t>
            </a:r>
            <a:endParaRPr lang="en-US" sz="1400" dirty="0"/>
          </a:p>
        </p:txBody>
      </p:sp>
      <p:sp>
        <p:nvSpPr>
          <p:cNvPr id="11" name="Answer text"/>
          <p:cNvSpPr txBox="1"/>
          <p:nvPr/>
        </p:nvSpPr>
        <p:spPr>
          <a:xfrm>
            <a:off x="2103120" y="52120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Highest Average Prices by Locality in </a:t>
            </a:r>
            <a:r>
              <a:rPr lang="en-GB" sz="1600" dirty="0" err="1">
                <a:solidFill>
                  <a:schemeClr val="bg1"/>
                </a:solidFill>
              </a:rPr>
              <a:t>baliawas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B8715A-7FFB-85E7-0AAF-B8911FFCC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02" y="2582810"/>
            <a:ext cx="4786316" cy="13266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989580-0065-9AAB-2165-36C0AC3CE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665" y="2194560"/>
            <a:ext cx="4629150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Q3.  Which locality has the highest rate per sqft?</a:t>
            </a:r>
            <a:endParaRPr lang="en-US" sz="3000" dirty="0"/>
          </a:p>
        </p:txBody>
      </p:sp>
      <p:sp>
        <p:nvSpPr>
          <p:cNvPr id="3" name="Code card"/>
          <p:cNvSpPr/>
          <p:nvPr/>
        </p:nvSpPr>
        <p:spPr>
          <a:xfrm>
            <a:off x="548640" y="1554480"/>
            <a:ext cx="51206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PYTHON CODE</a:t>
            </a:r>
            <a:endParaRPr lang="en-US" sz="1200" dirty="0"/>
          </a:p>
        </p:txBody>
      </p:sp>
      <p:sp>
        <p:nvSpPr>
          <p:cNvPr id="6" name="Output placeholder"/>
          <p:cNvSpPr/>
          <p:nvPr/>
        </p:nvSpPr>
        <p:spPr>
          <a:xfrm>
            <a:off x="5943600" y="1554480"/>
            <a:ext cx="5669280" cy="3383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OUTPUT / CHART</a:t>
            </a:r>
            <a:endParaRPr lang="en-US" sz="1200" dirty="0"/>
          </a:p>
        </p:txBody>
      </p:sp>
      <p:sp>
        <p:nvSpPr>
          <p:cNvPr id="9" name="Answer band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ANSWER</a:t>
            </a:r>
            <a:endParaRPr lang="en-US" sz="1400" dirty="0"/>
          </a:p>
        </p:txBody>
      </p:sp>
      <p:sp>
        <p:nvSpPr>
          <p:cNvPr id="11" name="Answer text"/>
          <p:cNvSpPr txBox="1"/>
          <p:nvPr/>
        </p:nvSpPr>
        <p:spPr>
          <a:xfrm>
            <a:off x="2042160" y="51206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Highest Rate per square feet by Locality is sector 42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C1E18D-E4BB-D929-5896-58D5FED70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663187"/>
            <a:ext cx="4770120" cy="10058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B72A7E-7AD1-E1F0-4310-F3F9182FE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286000"/>
            <a:ext cx="348615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Q4.  Do ready to move properties cost more than under-construction ones?</a:t>
            </a:r>
            <a:endParaRPr lang="en-US" sz="3000" dirty="0"/>
          </a:p>
        </p:txBody>
      </p:sp>
      <p:sp>
        <p:nvSpPr>
          <p:cNvPr id="3" name="Code card"/>
          <p:cNvSpPr/>
          <p:nvPr/>
        </p:nvSpPr>
        <p:spPr>
          <a:xfrm>
            <a:off x="548640" y="1554480"/>
            <a:ext cx="51206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PYTHON CODE</a:t>
            </a:r>
            <a:endParaRPr lang="en-US" sz="1200" dirty="0"/>
          </a:p>
        </p:txBody>
      </p:sp>
      <p:sp>
        <p:nvSpPr>
          <p:cNvPr id="6" name="Output placeholder"/>
          <p:cNvSpPr/>
          <p:nvPr/>
        </p:nvSpPr>
        <p:spPr>
          <a:xfrm>
            <a:off x="5943600" y="1554480"/>
            <a:ext cx="5669280" cy="3383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OUTPUT / CHART</a:t>
            </a:r>
            <a:endParaRPr lang="en-US" sz="1200" dirty="0"/>
          </a:p>
        </p:txBody>
      </p:sp>
      <p:pic>
        <p:nvPicPr>
          <p:cNvPr id="8" name="Result chart" descr="Chart for questio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11680"/>
            <a:ext cx="5303520" cy="2743200"/>
          </a:xfrm>
          <a:prstGeom prst="rect">
            <a:avLst/>
          </a:prstGeom>
        </p:spPr>
      </p:pic>
      <p:sp>
        <p:nvSpPr>
          <p:cNvPr id="9" name="Answer band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ANSWER</a:t>
            </a:r>
            <a:endParaRPr lang="en-US" sz="1400" dirty="0"/>
          </a:p>
        </p:txBody>
      </p:sp>
      <p:sp>
        <p:nvSpPr>
          <p:cNvPr id="11" name="Answer text"/>
          <p:cNvSpPr txBox="1"/>
          <p:nvPr/>
        </p:nvSpPr>
        <p:spPr>
          <a:xfrm>
            <a:off x="2103120" y="52120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Yes, ready to move properties cost more than under-construction properties.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ABBD38-BE93-FBA8-9176-6C7EF80B5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10" y="2649749"/>
            <a:ext cx="4753099" cy="14670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Q5.  Do RERA-approved properties command a price premium?</a:t>
            </a:r>
            <a:endParaRPr lang="en-US" sz="3000" dirty="0"/>
          </a:p>
        </p:txBody>
      </p:sp>
      <p:sp>
        <p:nvSpPr>
          <p:cNvPr id="3" name="Code card"/>
          <p:cNvSpPr/>
          <p:nvPr/>
        </p:nvSpPr>
        <p:spPr>
          <a:xfrm>
            <a:off x="548640" y="1554480"/>
            <a:ext cx="51206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PYTHON CODE</a:t>
            </a:r>
            <a:endParaRPr lang="en-US" sz="1200" dirty="0"/>
          </a:p>
        </p:txBody>
      </p:sp>
      <p:sp>
        <p:nvSpPr>
          <p:cNvPr id="6" name="Output placeholder"/>
          <p:cNvSpPr/>
          <p:nvPr/>
        </p:nvSpPr>
        <p:spPr>
          <a:xfrm>
            <a:off x="5943600" y="1554480"/>
            <a:ext cx="5669280" cy="3383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OUTPUT / CHART</a:t>
            </a:r>
            <a:endParaRPr lang="en-US" sz="1200" dirty="0"/>
          </a:p>
        </p:txBody>
      </p:sp>
      <p:pic>
        <p:nvPicPr>
          <p:cNvPr id="8" name="Result chart" descr="Chart for questio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11680"/>
            <a:ext cx="5303520" cy="2743200"/>
          </a:xfrm>
          <a:prstGeom prst="rect">
            <a:avLst/>
          </a:prstGeom>
        </p:spPr>
      </p:pic>
      <p:sp>
        <p:nvSpPr>
          <p:cNvPr id="9" name="Answer band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ANSWER</a:t>
            </a:r>
            <a:endParaRPr lang="en-US" sz="1400" dirty="0"/>
          </a:p>
        </p:txBody>
      </p:sp>
      <p:sp>
        <p:nvSpPr>
          <p:cNvPr id="11" name="Answer text"/>
          <p:cNvSpPr txBox="1"/>
          <p:nvPr/>
        </p:nvSpPr>
        <p:spPr>
          <a:xfrm>
            <a:off x="2103120" y="52120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No, RERA-approved properties do not command a price premium.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5FF7F4-17AC-D471-9626-962E880A7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67375"/>
            <a:ext cx="4663440" cy="1523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Q6.  How does area (sqft) impact property price?</a:t>
            </a:r>
            <a:endParaRPr lang="en-US" sz="3000" dirty="0"/>
          </a:p>
        </p:txBody>
      </p:sp>
      <p:sp>
        <p:nvSpPr>
          <p:cNvPr id="3" name="Code card"/>
          <p:cNvSpPr/>
          <p:nvPr/>
        </p:nvSpPr>
        <p:spPr>
          <a:xfrm>
            <a:off x="548640" y="1554480"/>
            <a:ext cx="51206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PYTHON CODE</a:t>
            </a:r>
            <a:endParaRPr lang="en-US" sz="1200" dirty="0"/>
          </a:p>
        </p:txBody>
      </p:sp>
      <p:sp>
        <p:nvSpPr>
          <p:cNvPr id="6" name="Output placeholder"/>
          <p:cNvSpPr/>
          <p:nvPr/>
        </p:nvSpPr>
        <p:spPr>
          <a:xfrm>
            <a:off x="5943600" y="1554480"/>
            <a:ext cx="5669280" cy="3383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OUTPUT / CHART</a:t>
            </a:r>
            <a:endParaRPr lang="en-US" sz="1200" dirty="0"/>
          </a:p>
        </p:txBody>
      </p:sp>
      <p:sp>
        <p:nvSpPr>
          <p:cNvPr id="9" name="Answer band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ANSWER</a:t>
            </a:r>
            <a:endParaRPr lang="en-US" sz="1400" dirty="0"/>
          </a:p>
        </p:txBody>
      </p:sp>
      <p:sp>
        <p:nvSpPr>
          <p:cNvPr id="11" name="Answer text"/>
          <p:cNvSpPr txBox="1"/>
          <p:nvPr/>
        </p:nvSpPr>
        <p:spPr>
          <a:xfrm>
            <a:off x="2103120" y="52120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Area does not have significant impact on property price as there is no clear trend in the scatter plot.</a:t>
            </a:r>
            <a:r>
              <a:rPr lang="en-GB" sz="1600" dirty="0"/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0AB89C-FE80-C533-0BC9-7237D2449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25" y="2704229"/>
            <a:ext cx="4889175" cy="14142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FE650C-98E2-D91A-674E-94C11CAD4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960244"/>
            <a:ext cx="3916682" cy="2937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Q7.  Which BHK configuration is the most expensive per sqft?</a:t>
            </a:r>
            <a:endParaRPr lang="en-US" sz="3000" dirty="0"/>
          </a:p>
        </p:txBody>
      </p:sp>
      <p:sp>
        <p:nvSpPr>
          <p:cNvPr id="3" name="Code card"/>
          <p:cNvSpPr/>
          <p:nvPr/>
        </p:nvSpPr>
        <p:spPr>
          <a:xfrm>
            <a:off x="548640" y="1554480"/>
            <a:ext cx="51206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PYTHON CODE</a:t>
            </a:r>
            <a:endParaRPr lang="en-US" sz="1200" dirty="0"/>
          </a:p>
        </p:txBody>
      </p:sp>
      <p:sp>
        <p:nvSpPr>
          <p:cNvPr id="6" name="Output placeholder"/>
          <p:cNvSpPr/>
          <p:nvPr/>
        </p:nvSpPr>
        <p:spPr>
          <a:xfrm>
            <a:off x="5943600" y="1554480"/>
            <a:ext cx="5669280" cy="3383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OUTPUT / CHART</a:t>
            </a:r>
            <a:endParaRPr lang="en-US" sz="1200" dirty="0"/>
          </a:p>
        </p:txBody>
      </p:sp>
      <p:pic>
        <p:nvPicPr>
          <p:cNvPr id="8" name="Result chart" descr="Chart for questio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11680"/>
            <a:ext cx="5303520" cy="2743200"/>
          </a:xfrm>
          <a:prstGeom prst="rect">
            <a:avLst/>
          </a:prstGeom>
        </p:spPr>
      </p:pic>
      <p:sp>
        <p:nvSpPr>
          <p:cNvPr id="9" name="Answer band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ANSWER</a:t>
            </a:r>
            <a:endParaRPr lang="en-US" sz="1400" dirty="0"/>
          </a:p>
        </p:txBody>
      </p:sp>
      <p:sp>
        <p:nvSpPr>
          <p:cNvPr id="11" name="Answer text"/>
          <p:cNvSpPr txBox="1"/>
          <p:nvPr/>
        </p:nvSpPr>
        <p:spPr>
          <a:xfrm>
            <a:off x="2103120" y="52120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The most expensive BHK configuration on average is: 114 BHK with an average rate of 33347.20 per square feet.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F73620-C798-2E8C-9FE6-7A8283446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53" y="2671128"/>
            <a:ext cx="4902814" cy="12414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Q8.  Which property type (Apartment, Floor, Plot) is the costliest?</a:t>
            </a:r>
            <a:endParaRPr lang="en-US" sz="3000" dirty="0"/>
          </a:p>
        </p:txBody>
      </p:sp>
      <p:sp>
        <p:nvSpPr>
          <p:cNvPr id="3" name="Code card"/>
          <p:cNvSpPr/>
          <p:nvPr/>
        </p:nvSpPr>
        <p:spPr>
          <a:xfrm>
            <a:off x="548640" y="1554480"/>
            <a:ext cx="51206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PYTHON CODE</a:t>
            </a:r>
            <a:endParaRPr lang="en-US" sz="1200" dirty="0"/>
          </a:p>
        </p:txBody>
      </p:sp>
      <p:sp>
        <p:nvSpPr>
          <p:cNvPr id="6" name="Output placeholder"/>
          <p:cNvSpPr/>
          <p:nvPr/>
        </p:nvSpPr>
        <p:spPr>
          <a:xfrm>
            <a:off x="5943600" y="1554480"/>
            <a:ext cx="5669280" cy="3383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OUTPUT / CHART</a:t>
            </a:r>
            <a:endParaRPr lang="en-US" sz="1200" dirty="0"/>
          </a:p>
        </p:txBody>
      </p:sp>
      <p:pic>
        <p:nvPicPr>
          <p:cNvPr id="8" name="Result chart" descr="Chart for questio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11680"/>
            <a:ext cx="5303520" cy="2743200"/>
          </a:xfrm>
          <a:prstGeom prst="rect">
            <a:avLst/>
          </a:prstGeom>
        </p:spPr>
      </p:pic>
      <p:sp>
        <p:nvSpPr>
          <p:cNvPr id="9" name="Answer band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ANSWER</a:t>
            </a:r>
            <a:endParaRPr lang="en-US" sz="1400" dirty="0"/>
          </a:p>
        </p:txBody>
      </p:sp>
      <p:sp>
        <p:nvSpPr>
          <p:cNvPr id="11" name="Answer text"/>
          <p:cNvSpPr txBox="1"/>
          <p:nvPr/>
        </p:nvSpPr>
        <p:spPr>
          <a:xfrm>
            <a:off x="2103120" y="52120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The costliest property type on average is villa with an average rate of 17740.21 per square feet.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5C9882-7ECB-F2F2-3454-DAA62BA17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68" y="2646844"/>
            <a:ext cx="4938183" cy="10668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Q9.  Do certain builders or companies consistently price higher?</a:t>
            </a:r>
            <a:endParaRPr lang="en-US" sz="3000" dirty="0"/>
          </a:p>
        </p:txBody>
      </p:sp>
      <p:sp>
        <p:nvSpPr>
          <p:cNvPr id="3" name="Code card"/>
          <p:cNvSpPr/>
          <p:nvPr/>
        </p:nvSpPr>
        <p:spPr>
          <a:xfrm>
            <a:off x="548640" y="1554480"/>
            <a:ext cx="51206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PYTHON CODE</a:t>
            </a:r>
            <a:endParaRPr lang="en-US" sz="1200" dirty="0"/>
          </a:p>
        </p:txBody>
      </p:sp>
      <p:sp>
        <p:nvSpPr>
          <p:cNvPr id="6" name="Output placeholder"/>
          <p:cNvSpPr/>
          <p:nvPr/>
        </p:nvSpPr>
        <p:spPr>
          <a:xfrm>
            <a:off x="5943600" y="1554480"/>
            <a:ext cx="5669280" cy="3383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OUTPUT / CHART</a:t>
            </a:r>
            <a:endParaRPr lang="en-US" sz="1200" dirty="0"/>
          </a:p>
        </p:txBody>
      </p:sp>
      <p:pic>
        <p:nvPicPr>
          <p:cNvPr id="8" name="Result chart" descr="Chart for questio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11680"/>
            <a:ext cx="5303520" cy="2743200"/>
          </a:xfrm>
          <a:prstGeom prst="rect">
            <a:avLst/>
          </a:prstGeom>
        </p:spPr>
      </p:pic>
      <p:sp>
        <p:nvSpPr>
          <p:cNvPr id="9" name="Answer band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ANSWER</a:t>
            </a:r>
            <a:endParaRPr lang="en-US" sz="1400" dirty="0"/>
          </a:p>
        </p:txBody>
      </p:sp>
      <p:sp>
        <p:nvSpPr>
          <p:cNvPr id="11" name="Answer text"/>
          <p:cNvSpPr txBox="1"/>
          <p:nvPr/>
        </p:nvSpPr>
        <p:spPr>
          <a:xfrm>
            <a:off x="2103120" y="52120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Top 5 builders/companies with the highest average rate per </a:t>
            </a:r>
            <a:r>
              <a:rPr lang="en-GB" sz="1600" dirty="0" err="1">
                <a:solidFill>
                  <a:schemeClr val="bg1"/>
                </a:solidFill>
              </a:rPr>
              <a:t>sqft</a:t>
            </a:r>
            <a:r>
              <a:rPr lang="en-GB" sz="1600" dirty="0">
                <a:solidFill>
                  <a:schemeClr val="bg1"/>
                </a:solidFill>
              </a:rPr>
              <a:t> are: ['</a:t>
            </a:r>
            <a:r>
              <a:rPr lang="en-GB" sz="1600" dirty="0" err="1">
                <a:solidFill>
                  <a:schemeClr val="bg1"/>
                </a:solidFill>
              </a:rPr>
              <a:t>camelliaass</a:t>
            </a:r>
            <a:r>
              <a:rPr lang="en-GB" sz="1600" dirty="0">
                <a:solidFill>
                  <a:schemeClr val="bg1"/>
                </a:solidFill>
              </a:rPr>
              <a:t>', '</a:t>
            </a:r>
            <a:r>
              <a:rPr lang="en-GB" sz="1600" dirty="0" err="1">
                <a:solidFill>
                  <a:schemeClr val="bg1"/>
                </a:solidFill>
              </a:rPr>
              <a:t>cameliaas</a:t>
            </a:r>
            <a:r>
              <a:rPr lang="en-GB" sz="1600" dirty="0">
                <a:solidFill>
                  <a:schemeClr val="bg1"/>
                </a:solidFill>
              </a:rPr>
              <a:t>', 'tulip', 'prom', '</a:t>
            </a:r>
            <a:r>
              <a:rPr lang="en-GB" sz="1600" dirty="0" err="1">
                <a:solidFill>
                  <a:schemeClr val="bg1"/>
                </a:solidFill>
              </a:rPr>
              <a:t>magnoliaass</a:t>
            </a:r>
            <a:r>
              <a:rPr lang="en-GB" sz="1600" dirty="0">
                <a:solidFill>
                  <a:schemeClr val="bg1"/>
                </a:solidFill>
              </a:rPr>
              <a:t>'].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E15D4B-3321-A3F8-257C-6D37FC3AE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8" y="2633078"/>
            <a:ext cx="4900083" cy="10330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Q10.  Are larger homes always more expensive per square foot?</a:t>
            </a:r>
            <a:endParaRPr lang="en-US" sz="3000" dirty="0"/>
          </a:p>
        </p:txBody>
      </p:sp>
      <p:sp>
        <p:nvSpPr>
          <p:cNvPr id="3" name="Code card"/>
          <p:cNvSpPr/>
          <p:nvPr/>
        </p:nvSpPr>
        <p:spPr>
          <a:xfrm>
            <a:off x="548640" y="1554480"/>
            <a:ext cx="5120640" cy="33832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PYTHON CODE</a:t>
            </a:r>
            <a:endParaRPr lang="en-US" sz="1200" dirty="0"/>
          </a:p>
        </p:txBody>
      </p:sp>
      <p:sp>
        <p:nvSpPr>
          <p:cNvPr id="6" name="Output placeholder"/>
          <p:cNvSpPr/>
          <p:nvPr/>
        </p:nvSpPr>
        <p:spPr>
          <a:xfrm>
            <a:off x="5943600" y="1554480"/>
            <a:ext cx="5669280" cy="338328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1722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OUTPUT / CHART</a:t>
            </a:r>
            <a:endParaRPr lang="en-US" sz="1200" dirty="0"/>
          </a:p>
        </p:txBody>
      </p:sp>
      <p:sp>
        <p:nvSpPr>
          <p:cNvPr id="9" name="Answer band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52120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ANSWER</a:t>
            </a:r>
            <a:endParaRPr lang="en-US" sz="1400" dirty="0"/>
          </a:p>
        </p:txBody>
      </p:sp>
      <p:sp>
        <p:nvSpPr>
          <p:cNvPr id="11" name="Answer text"/>
          <p:cNvSpPr txBox="1"/>
          <p:nvPr/>
        </p:nvSpPr>
        <p:spPr>
          <a:xfrm>
            <a:off x="2103120" y="521208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No, larger homes are not always more expensive per square foot as there is no clear trend in the scatter plot.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bg1"/>
                </a:solidFill>
              </a:rPr>
              <a:t>Larger homes with the highest average rate per square feet are: [208, 204, 263, 173, 267] square feet.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B81691-71D2-8326-F1A6-77F8134D3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50" y="2706635"/>
            <a:ext cx="4990820" cy="153617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757FA7B-938F-50E5-18E6-B0D43CA42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932" y="2011680"/>
            <a:ext cx="3714616" cy="27859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Key findings at a glance</a:t>
            </a:r>
            <a:endParaRPr lang="en-US" sz="3000" dirty="0"/>
          </a:p>
        </p:txBody>
      </p:sp>
      <p:graphicFrame>
        <p:nvGraphicFramePr>
          <p:cNvPr id="16" name="Finding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42569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Topic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Finding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Costliest flat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BHK in DLF Camellias, Sector 42: ₹122.63 Cr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Locality by price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Baliawas (₹58.3 Cr, 3 listings); Sector 42 next at ₹50.2 Cr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Locality by rate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Sector 42: ₹55,989/sqft; Sector 113 next at ₹52,404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Status vs price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Yes, slightly: ₹4.15 Cr vs ₹3.96 Cr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RERA premium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No: RERA ₹3.86 Cr vs non-RERA ₹4.08 Cr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Area vs price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Yes, positive link (≈ 0.63 after removing 5 area outliers)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BHK vs rate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 BHK at ₹20,946/sqft (114 BHK rows are plot data errors)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Property type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Villa per sqft (₹17,740); penthouse by total price (₹13.8 Cr)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Builders / companies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Yes: Camelliaass, Cameliaas and Tulip lead (₹28k–45k/sqft)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Area vs rate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No: area and rate per sqft are barely correlated (≈ 0.08)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Conclusion and next steps</a:t>
            </a:r>
            <a:endParaRPr lang="en-US" sz="3000" dirty="0"/>
          </a:p>
        </p:txBody>
      </p:sp>
      <p:sp>
        <p:nvSpPr>
          <p:cNvPr id="3" name="Card What we learned"/>
          <p:cNvSpPr/>
          <p:nvPr/>
        </p:nvSpPr>
        <p:spPr>
          <a:xfrm>
            <a:off x="548640" y="1645920"/>
            <a:ext cx="5440680" cy="329184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What we learned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603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Price is driven by location and size, not RERA status. Sectors 42 and 113 command the highest rates, villas lead per sqft, and ready-to-move homes cost slightly more than under-construction ones.</a:t>
            </a:r>
            <a:endParaRPr lang="en-US" sz="1600" dirty="0"/>
          </a:p>
        </p:txBody>
      </p:sp>
      <p:sp>
        <p:nvSpPr>
          <p:cNvPr id="6" name="Card Next steps"/>
          <p:cNvSpPr/>
          <p:nvPr/>
        </p:nvSpPr>
        <p:spPr>
          <a:xfrm>
            <a:off x="6172200" y="1645920"/>
            <a:ext cx="5440680" cy="329184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Next steps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5603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Merge spelling variants of company names. Then build a price prediction model and compare with more cities.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erty Analysis">
  <a:themeElements>
    <a:clrScheme name="Property Analysis">
      <a:dk1>
        <a:srgbClr val="1B2B2C"/>
      </a:dk1>
      <a:lt1>
        <a:srgbClr val="FFFFFF"/>
      </a:lt1>
      <a:dk2>
        <a:srgbClr val="0F3D3E"/>
      </a:dk2>
      <a:lt2>
        <a:srgbClr val="EAF2F1"/>
      </a:lt2>
      <a:accent1>
        <a:srgbClr val="1F7A7A"/>
      </a:accent1>
      <a:accent2>
        <a:srgbClr val="E9A23B"/>
      </a:accent2>
      <a:accent3>
        <a:srgbClr val="7FB7B0"/>
      </a:accent3>
      <a:accent4>
        <a:srgbClr val="C8553D"/>
      </a:accent4>
      <a:accent5>
        <a:srgbClr val="5B6C6D"/>
      </a:accent5>
      <a:accent6>
        <a:srgbClr val="2E4A62"/>
      </a:accent6>
      <a:hlink>
        <a:srgbClr val="1F7A7A"/>
      </a:hlink>
      <a:folHlink>
        <a:srgbClr val="5B6C6D"/>
      </a:folHlink>
    </a:clrScheme>
    <a:fontScheme name="Property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974</Words>
  <Application>Microsoft Office PowerPoint</Application>
  <PresentationFormat>Widescreen</PresentationFormat>
  <Paragraphs>201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Property Analysis</vt:lpstr>
      <vt:lpstr>Real Estate Price Analysis</vt:lpstr>
      <vt:lpstr>Project overview</vt:lpstr>
      <vt:lpstr>About the dataset: 12 columns</vt:lpstr>
      <vt:lpstr>10 questions we answer</vt:lpstr>
      <vt:lpstr>Q1.  Which is the costliest flat in the dataset?</vt:lpstr>
      <vt:lpstr>Q2.  Which locality has the highest average price?</vt:lpstr>
      <vt:lpstr>Q3.  Which locality has the highest rate per sqft?</vt:lpstr>
      <vt:lpstr>Q4.  Do ready to move properties cost more than under-construction ones?</vt:lpstr>
      <vt:lpstr>Q5.  Do RERA-approved properties command a price premium?</vt:lpstr>
      <vt:lpstr>Q6.  How does area (sqft) impact property price?</vt:lpstr>
      <vt:lpstr>Q7.  Which BHK configuration is the most expensive per sqft?</vt:lpstr>
      <vt:lpstr>Q8.  Which property type (Apartment, Floor, Plot) is the costliest?</vt:lpstr>
      <vt:lpstr>Q9.  Do certain builders or companies consistently price higher?</vt:lpstr>
      <vt:lpstr>Q10.  Are larger homes always more expensive per square foot?</vt:lpstr>
      <vt:lpstr>Key findings at a glance</vt:lpstr>
      <vt:lpstr>Conclusion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Estate Price Analysis</dc:title>
  <dc:subject>PptxGenJS Presentation</dc:subject>
  <dc:creator>PptxGenJS</dc:creator>
  <cp:lastModifiedBy>shivam Arya</cp:lastModifiedBy>
  <cp:revision>2</cp:revision>
  <dcterms:created xsi:type="dcterms:W3CDTF">2026-10-30T16:18:00Z</dcterms:created>
  <dcterms:modified xsi:type="dcterms:W3CDTF">2026-10-30T17:16:19Z</dcterms:modified>
</cp:coreProperties>
</file>